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7787552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7787552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77875529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77875529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77875529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77875529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77875529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77875529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77875529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77875529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77875529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77875529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77875529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77875529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77875529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77875529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77875529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77875529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77875529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77875529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77875529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77875529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93af284c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93af284c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stratasys.com/en/guide-to-3d-printing-solution/?utm_campaign=gen-brgese&amp;utm_medium=cpc&amp;utm_source=bing&amp;utm_content=bg3pr&amp;utm_source=bing&amp;utm_medium=cpc&amp;utm_campaign=&amp;utm_term=3d%20printing&amp;msclkid=cc36da37f52913884fc5b313a93128f6" TargetMode="External"/><Relationship Id="rId4" Type="http://schemas.openxmlformats.org/officeDocument/2006/relationships/hyperlink" Target="https://www.datainsightsmarket.com/reports/consumer-grade-3d-printers-1330065#summary" TargetMode="External"/><Relationship Id="rId5" Type="http://schemas.openxmlformats.org/officeDocument/2006/relationships/hyperlink" Target="https://bigrep.com/3d-printers/?utm_source=bing&amp;utm_medium=cpc&amp;utm_campaign=NA+Generic&amp;utm_term=industrial%203d%20printer&amp;utm_content=Industrial%203D%20Printer%20-%20A&amp;utm_matchtype=p&amp;utm_device=c&amp;msclkid=00dab9acffcd142b9345d088a2788785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3-D Printing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74725" y="32375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Frank Coste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CSIT 100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3-D printing creates physical objects from digital designs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Works by building items layer by layer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Used in medicine, engineering, construction, and education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Rapidly growing technology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This presentation explains its history, uses, advantages, and future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3-D printing?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 manufacturing process that builds objects one layer at a time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Converts 3-D computer models into real objects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Known as additive manufacturing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Works with many materials (plastic, resin, metal, concrete)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Early History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552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Began in the early 1980s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Charles Hull invented stereolithography (SLA) in 1984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SLA used UV light to solidify liquid resin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Hull founded 3D systems, an early industry leader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Laid the foundation for modern additive manufacturing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8650" y="953075"/>
            <a:ext cx="3080901" cy="349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of Modern Techniques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Fused Deposition Modeling (FDM) introduced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Selective Laser Sintering (SLS) developed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Laminated Object Manufacturing (LOM) created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New methods allowed printing with plastics, metals, ceramics, composites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Expanded the range of real-world uses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Rise of Consumer 3-D Printers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510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Late 2000s → affordable desktop printers appear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Technology opens to hobbyists and schools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Allows small businesses to prototype cheaply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Growth of brands like MakerBot and Creality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Makes 3-D printing widely accessible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8500" y="1152475"/>
            <a:ext cx="3955500" cy="317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Medical Applications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Custom prosthetics made for perfect fit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Surgical models print patient-specific anatomy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Bioprinting used for tissues and research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Helps doctors plan surgeries more accurately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Personalized medical devices improve patient care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Engineering &amp; Industrial Uses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Rapid prototyping saves time and money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Designers can test models without expensive molds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Aerospace uses 3-D printing for lightweight, complex parts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Allows small-batch manufacturing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Helps companies innovate faster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Construction Applications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5396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Large 3-D printers can build walls and entire homes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Concrete printing reduces waste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Construction becomes faster and more affordable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Useful for disaster relief and low-income housing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7203" y="1457600"/>
            <a:ext cx="3435524" cy="280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Education &amp; Learning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Supports hands-on learning and creativity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Students build physical models from digital designs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Used in engineering, architecture, math, art, and more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Encourages problem-solving and innovation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Teachers can make custom tools and lab equipment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Advantages &amp; Challenges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339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835">
                <a:solidFill>
                  <a:schemeClr val="dk1"/>
                </a:solidFill>
              </a:rPr>
              <a:t>Advantages:</a:t>
            </a:r>
            <a:endParaRPr b="1" sz="1835">
              <a:solidFill>
                <a:schemeClr val="dk1"/>
              </a:solidFill>
            </a:endParaRPr>
          </a:p>
          <a:p>
            <a:pPr indent="-34512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35"/>
              <a:buChar char="●"/>
            </a:pPr>
            <a:r>
              <a:rPr lang="en" sz="1835">
                <a:solidFill>
                  <a:schemeClr val="dk1"/>
                </a:solidFill>
              </a:rPr>
              <a:t>High customization</a:t>
            </a:r>
            <a:br>
              <a:rPr lang="en" sz="1835">
                <a:solidFill>
                  <a:schemeClr val="dk1"/>
                </a:solidFill>
              </a:rPr>
            </a:br>
            <a:endParaRPr sz="1835">
              <a:solidFill>
                <a:schemeClr val="dk1"/>
              </a:solidFill>
            </a:endParaRPr>
          </a:p>
          <a:p>
            <a:pPr indent="-3451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35"/>
              <a:buChar char="●"/>
            </a:pPr>
            <a:r>
              <a:rPr lang="en" sz="1835">
                <a:solidFill>
                  <a:schemeClr val="dk1"/>
                </a:solidFill>
              </a:rPr>
              <a:t>Less material waste</a:t>
            </a:r>
            <a:br>
              <a:rPr lang="en" sz="1835">
                <a:solidFill>
                  <a:schemeClr val="dk1"/>
                </a:solidFill>
              </a:rPr>
            </a:br>
            <a:endParaRPr sz="1835">
              <a:solidFill>
                <a:schemeClr val="dk1"/>
              </a:solidFill>
            </a:endParaRPr>
          </a:p>
          <a:p>
            <a:pPr indent="-3451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35"/>
              <a:buChar char="●"/>
            </a:pPr>
            <a:r>
              <a:rPr lang="en" sz="1835">
                <a:solidFill>
                  <a:schemeClr val="dk1"/>
                </a:solidFill>
              </a:rPr>
              <a:t>Faster prototyping</a:t>
            </a:r>
            <a:br>
              <a:rPr lang="en" sz="1835">
                <a:solidFill>
                  <a:schemeClr val="dk1"/>
                </a:solidFill>
              </a:rPr>
            </a:br>
            <a:endParaRPr sz="1835">
              <a:solidFill>
                <a:schemeClr val="dk1"/>
              </a:solidFill>
            </a:endParaRPr>
          </a:p>
          <a:p>
            <a:pPr indent="-3451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35"/>
              <a:buChar char="●"/>
            </a:pPr>
            <a:r>
              <a:rPr lang="en" sz="1835">
                <a:solidFill>
                  <a:schemeClr val="dk1"/>
                </a:solidFill>
              </a:rPr>
              <a:t>Complex shapes are easy to create</a:t>
            </a:r>
            <a:endParaRPr sz="18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2430">
              <a:solidFill>
                <a:schemeClr val="dk1"/>
              </a:solidFill>
            </a:endParaRPr>
          </a:p>
        </p:txBody>
      </p:sp>
      <p:sp>
        <p:nvSpPr>
          <p:cNvPr id="119" name="Google Shape;119;p23"/>
          <p:cNvSpPr txBox="1"/>
          <p:nvPr/>
        </p:nvSpPr>
        <p:spPr>
          <a:xfrm>
            <a:off x="4247225" y="1152475"/>
            <a:ext cx="3832500" cy="3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35">
                <a:solidFill>
                  <a:schemeClr val="dk1"/>
                </a:solidFill>
              </a:rPr>
              <a:t>Challenges:</a:t>
            </a:r>
            <a:endParaRPr b="1" sz="1835">
              <a:solidFill>
                <a:schemeClr val="dk1"/>
              </a:solidFill>
            </a:endParaRPr>
          </a:p>
          <a:p>
            <a:pPr indent="-34512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35"/>
              <a:buChar char="●"/>
            </a:pPr>
            <a:r>
              <a:rPr lang="en" sz="1835">
                <a:solidFill>
                  <a:schemeClr val="dk1"/>
                </a:solidFill>
              </a:rPr>
              <a:t>Advanced printers and materials are expensive</a:t>
            </a:r>
            <a:br>
              <a:rPr lang="en" sz="1835">
                <a:solidFill>
                  <a:schemeClr val="dk1"/>
                </a:solidFill>
              </a:rPr>
            </a:br>
            <a:endParaRPr sz="1835">
              <a:solidFill>
                <a:schemeClr val="dk1"/>
              </a:solidFill>
            </a:endParaRPr>
          </a:p>
          <a:p>
            <a:pPr indent="-3451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35"/>
              <a:buChar char="●"/>
            </a:pPr>
            <a:r>
              <a:rPr lang="en" sz="1835">
                <a:solidFill>
                  <a:schemeClr val="dk1"/>
                </a:solidFill>
              </a:rPr>
              <a:t>Some printed parts are weaker</a:t>
            </a:r>
            <a:br>
              <a:rPr lang="en" sz="1835">
                <a:solidFill>
                  <a:schemeClr val="dk1"/>
                </a:solidFill>
              </a:rPr>
            </a:br>
            <a:endParaRPr sz="1835">
              <a:solidFill>
                <a:schemeClr val="dk1"/>
              </a:solidFill>
            </a:endParaRPr>
          </a:p>
          <a:p>
            <a:pPr indent="-3451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35"/>
              <a:buChar char="●"/>
            </a:pPr>
            <a:r>
              <a:rPr lang="en" sz="1835">
                <a:solidFill>
                  <a:schemeClr val="dk1"/>
                </a:solidFill>
              </a:rPr>
              <a:t>Slow for large or detailed prints</a:t>
            </a:r>
            <a:br>
              <a:rPr lang="en" sz="1835">
                <a:solidFill>
                  <a:schemeClr val="dk1"/>
                </a:solidFill>
              </a:rPr>
            </a:br>
            <a:endParaRPr sz="1835">
              <a:solidFill>
                <a:schemeClr val="dk1"/>
              </a:solidFill>
            </a:endParaRPr>
          </a:p>
          <a:p>
            <a:pPr indent="-3451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35"/>
              <a:buChar char="●"/>
            </a:pPr>
            <a:r>
              <a:rPr lang="en" sz="1835">
                <a:solidFill>
                  <a:schemeClr val="dk1"/>
                </a:solidFill>
              </a:rPr>
              <a:t>Intellectual property concerns (easy copying)</a:t>
            </a:r>
            <a:endParaRPr sz="183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of 3-D Printing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Bioprinting organs could save lives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Aerospace will print tools and parts in space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3-D printed homes may help solve global housing shortages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Better materials = stronger, more reliable prints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Technology will continue to grow across industries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source: </a:t>
            </a:r>
            <a:r>
              <a:rPr lang="en" u="sng">
                <a:solidFill>
                  <a:schemeClr val="hlink"/>
                </a:solidFill>
                <a:hlinkClick r:id="rId3"/>
              </a:rPr>
              <a:t>click here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source: </a:t>
            </a:r>
            <a:r>
              <a:rPr lang="en" u="sng">
                <a:solidFill>
                  <a:schemeClr val="hlink"/>
                </a:solidFill>
                <a:hlinkClick r:id="rId4"/>
              </a:rPr>
              <a:t>click here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Image source: </a:t>
            </a:r>
            <a:r>
              <a:rPr lang="en" u="sng">
                <a:solidFill>
                  <a:schemeClr val="hlink"/>
                </a:solidFill>
                <a:hlinkClick r:id="rId5"/>
              </a:rPr>
              <a:t>click here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